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0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E8A838">
              <a:alpha val="12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TOWSON UNIVERSITY  ·  COSC 495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Mutant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Progress  ·  Spring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·  PIT Mutation Testing  ·  ML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Mutation Testing?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injects small syntactic changes ("mutants") into source code to evaluate test suite quality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mutant represents one tiny fault: a changed operator, removed condition, or replaced return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suite runs against every mutant:</a:t>
            </a:r>
            <a:endParaRPr lang="en-US" sz="1400" dirty="0"/>
          </a:p>
          <a:p>
            <a:pPr marL="7620" lvl="1" indent="-381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mutant → at least one test failed (good — test caught the fault)</a:t>
            </a:r>
            <a:endParaRPr lang="en-US" sz="1400" dirty="0"/>
          </a:p>
          <a:p>
            <a:pPr marL="7620" lvl="1" indent="-381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mutant → all tests still pass (potential test gap)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= Killed ÷ Total  (higher is better)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not all surviving mutants represent real test gaps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06440" y="1097280"/>
            <a:ext cx="2926080" cy="1554480"/>
          </a:xfrm>
          <a:prstGeom prst="rect">
            <a:avLst/>
          </a:prstGeom>
          <a:solidFill>
            <a:srgbClr val="1A2E42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0644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06440" y="14447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80644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2971800"/>
            <a:ext cx="2926080" cy="1554480"/>
          </a:xfrm>
          <a:prstGeom prst="rect">
            <a:avLst/>
          </a:prstGeom>
          <a:solidFill>
            <a:srgbClr val="1A2E42"/>
          </a:solidFill>
          <a:ln w="254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0644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33192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80644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gaps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Equivalent Mutant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equivalent mutant is syntactically different but behaviorally identical — no test can ever kill 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inflate the denominator unfairly and penalize your score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identification is O(n) per mutant — takes hours on large codebases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equivalent mutant detection with ML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2606040"/>
            <a:ext cx="8321040" cy="1417320"/>
          </a:xfrm>
          <a:prstGeom prst="rect">
            <a:avLst/>
          </a:prstGeom>
          <a:solidFill>
            <a:srgbClr val="0A152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Example — Calculator.java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4436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Original:   </a:t>
            </a: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(a &gt;= b) ? a : b;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Mutant: 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(a &gt; b) ? a : b;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When testMax() calls max(4, 4), both return 4 — semantically equivalent for equal inputs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4206240"/>
            <a:ext cx="402336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251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SCORE:  100%  (31 / 31)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4206240"/>
            <a:ext cx="402336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4251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SCORE:  86%  (31 / 36 ← artificially penalized)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920240" cy="1417320"/>
          </a:xfrm>
          <a:prstGeom prst="rect">
            <a:avLst/>
          </a:prstGeom>
          <a:solidFill>
            <a:srgbClr val="1A2E42"/>
          </a:solidFill>
          <a:ln w="254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action.yml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mutation-ci.yml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536192"/>
            <a:ext cx="256032" cy="36576"/>
          </a:xfrm>
          <a:prstGeom prst="rect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1920240" cy="1417320"/>
          </a:xfrm>
          <a:prstGeom prst="rect">
            <a:avLst/>
          </a:prstGeom>
          <a:solidFill>
            <a:srgbClr val="1A2E42"/>
          </a:solidFill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192024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877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207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17 + Maven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Python 3.11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536192"/>
            <a:ext cx="256032" cy="36576"/>
          </a:xfrm>
          <a:prstGeom prst="rect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6864" y="868680"/>
            <a:ext cx="1920240" cy="1417320"/>
          </a:xfrm>
          <a:prstGeom prst="rect">
            <a:avLst/>
          </a:prstGeom>
          <a:solidFill>
            <a:srgbClr val="1A2E42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26864" y="868680"/>
            <a:ext cx="1920240" cy="2743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877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→ Classifier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72584" y="1207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entrypoint.sh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classify.py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47104" y="1536192"/>
            <a:ext cx="256032" cy="36576"/>
          </a:xfrm>
          <a:prstGeom prst="rect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03136" y="868680"/>
            <a:ext cx="1920240" cy="1417320"/>
          </a:xfrm>
          <a:prstGeom prst="rect">
            <a:avLst/>
          </a:prstGeom>
          <a:solidFill>
            <a:srgbClr val="1A2E42"/>
          </a:solidFill>
          <a:ln w="254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868680"/>
            <a:ext cx="1920240" cy="27432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03136" y="877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8856" y="1207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Summary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743200"/>
            <a:ext cx="201168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7614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action.yml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277977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metadata — 5 inputs, 5 outputs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090672"/>
            <a:ext cx="201168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108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312724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build: Java 17 + Maven + Python 3.11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438144"/>
            <a:ext cx="201168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56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entrypoint.sh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14600" y="34747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orchestrator: PIT → classifier → report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785616"/>
            <a:ext cx="201168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803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classify.py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14600" y="382219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parsing, scoring, annotations, JSON report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133088"/>
            <a:ext cx="201168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1513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mutation-ci.yml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14600" y="416966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Self-tests the action on every push to main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4480560"/>
            <a:ext cx="201168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498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sample-java-project/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14600" y="451713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Calculator.java (9 methods) + 11 test methods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Local Test Run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621792"/>
          </a:xfrm>
          <a:prstGeom prst="rect">
            <a:avLst/>
          </a:prstGeom>
          <a:solidFill>
            <a:srgbClr val="050D14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86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sample-java-project &amp;&amp; ./mvnw test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— CalculatorTest.java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testAdd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58568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testSubtract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596896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5968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testMultiply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35224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testDivide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273552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testDivideByZero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testMax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1920240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0" y="1920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testIsEven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2258568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0" y="22585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testClamp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2596896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0" y="25968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testAbs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2935224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0" y="29352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testFactorial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273552"/>
            <a:ext cx="201168" cy="20116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testFactorialNegative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600200"/>
            <a:ext cx="3886200" cy="3291840"/>
          </a:xfrm>
          <a:prstGeom prst="rect">
            <a:avLst/>
          </a:prstGeom>
          <a:solidFill>
            <a:srgbClr val="1A2E42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0116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Tests run: 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Failures:  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Errors:    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Skipped:   0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BUILD SUCCESS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4805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tests pass with zero failures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Local PIT Run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621792"/>
          </a:xfrm>
          <a:prstGeom prst="rect">
            <a:avLst/>
          </a:prstGeom>
          <a:solidFill>
            <a:srgbClr val="050D14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86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org.pitest:pitest-maven:mutationCoverage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920240" cy="1371600"/>
          </a:xfrm>
          <a:prstGeom prst="rect">
            <a:avLst/>
          </a:prstGeom>
          <a:solidFill>
            <a:srgbClr val="1A2E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1920240" cy="1371600"/>
          </a:xfrm>
          <a:prstGeom prst="rect">
            <a:avLst/>
          </a:prstGeom>
          <a:solidFill>
            <a:srgbClr val="1A2E42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1920240" cy="1371600"/>
          </a:xfrm>
          <a:prstGeom prst="rect">
            <a:avLst/>
          </a:prstGeom>
          <a:solidFill>
            <a:srgbClr val="1A2E42"/>
          </a:solidFill>
          <a:ln w="254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858000" y="1600200"/>
            <a:ext cx="1920240" cy="1371600"/>
          </a:xfrm>
          <a:prstGeom prst="rect">
            <a:avLst/>
          </a:prstGeom>
          <a:solidFill>
            <a:srgbClr val="1A2E42"/>
          </a:solidFill>
          <a:ln w="254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1148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target/pit-reports/mutations.xml        ← machine-readable XML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target/pit-reports/index.html           ← human-readable HTML report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target/pit-reports/com.example/Calculator.java.html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Results Breakdown — What Survived and Why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8321040" cy="310896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ConditionalsBoundaryMutator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RemoveConditionalMutator_EQUAL_ELSE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MathMutator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PrimitiveReturnsMutator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RemoveConditionalMutator_ORDER_ELSE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(Invert, Increments, BoolReturn x2)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 (+1 timed out = 36 total)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40233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Survivors: max() ln25  ·  abs() ln39  ·  clamp() ln33,34  ·  factorial() ln44  — likely equivalent (ConditionalsBoundary on &gt;=, &lt;, &gt;)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GitHub Action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8229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 |  PR touching .java / pom.xml / classify.py / Dockerfile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actions/checkout@v4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at GITHUB_WORKSPACE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" y="1554480"/>
            <a:ext cx="59436" cy="320040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892808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pip install lxml, rich  ·  Stage 2: Java17 + Maven + copy venv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" y="2240280"/>
            <a:ext cx="59436" cy="320040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347472" cy="3474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entrypoint.sh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mvn test → mvn pitest → classify.py → publish outputs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" y="2926080"/>
            <a:ext cx="59436" cy="320040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264408"/>
            <a:ext cx="347472" cy="34747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upload-artifact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HTML + classifier JSON (30-day retention)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" y="3611880"/>
            <a:ext cx="59436" cy="320040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950208"/>
            <a:ext cx="347472" cy="34747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outputs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 · adjusted score · equiv count · total mutants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 working-directory  ·  confidence-threshold (default 0.90)  ·  fail-below-score  ·  maven-args  ·  upload-report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classify.py — Full Plumbing, Stub Classifier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Complete in Phase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406908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parse_pit_xml()            → parses mutations.xml → Mutant dataclasses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4069080" cy="329184"/>
          </a:xfrm>
          <a:prstGeom prst="rect">
            <a:avLst/>
          </a:prstGeom>
          <a:solidFill>
            <a:srgbClr val="15203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classify_mutant()          → STUB: NON_EQUIVALENT (confidence = 0.5)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975104"/>
            <a:ext cx="406908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calculate_scores()         → raw &amp; adjusted score math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4069080" cy="329184"/>
          </a:xfrm>
          <a:prstGeom prst="rect">
            <a:avLst/>
          </a:prstGeom>
          <a:solidFill>
            <a:srgbClr val="15203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write_github_annotations() → ::warning for survivors, ::notice for equiv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79776"/>
            <a:ext cx="406908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write_json_report()        → machine-readable JSON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182112"/>
            <a:ext cx="4069080" cy="329184"/>
          </a:xfrm>
          <a:prstGeom prst="rect">
            <a:avLst/>
          </a:prstGeom>
          <a:solidFill>
            <a:srgbClr val="152030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write_results_env()        → key=value sourced by entrypoint.sh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84448"/>
            <a:ext cx="406908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gate               → sys.exit(1) if score &lt; fail-below threshold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822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changes in 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14300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inside classify_mutant():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4069080" cy="548640"/>
          </a:xfrm>
          <a:prstGeom prst="rect">
            <a:avLst/>
          </a:prstGeom>
          <a:solidFill>
            <a:srgbClr val="1A2E42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Java AST tokens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javalang library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121408"/>
            <a:ext cx="4069080" cy="548640"/>
          </a:xfrm>
          <a:prstGeom prst="rect">
            <a:avLst/>
          </a:prstGeom>
          <a:solidFill>
            <a:srgbClr val="1A2E42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 tokens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2395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Word2Vec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779776"/>
            <a:ext cx="4069080" cy="548640"/>
          </a:xfrm>
          <a:prstGeom prst="rect">
            <a:avLst/>
          </a:prstGeom>
          <a:solidFill>
            <a:srgbClr val="1A2E42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sequence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3054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Bi-GRU / LSTM / RNN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438144"/>
            <a:ext cx="4069080" cy="548640"/>
          </a:xfrm>
          <a:prstGeom prst="rect">
            <a:avLst/>
          </a:prstGeom>
          <a:solidFill>
            <a:srgbClr val="1A2E42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label + confidence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3712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softmax output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160520"/>
            <a:ext cx="406908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42062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deps (requirements.txt):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  ·  gensim (Word2Vec)  ·  javalang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to GitHub — CI in 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02336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926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10332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+ print working tree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402336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2926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22219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Java 17 + Maven cache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Temurin distribution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337560"/>
            <a:ext cx="402336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337560"/>
            <a:ext cx="2926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118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34107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Action  (uses: ./)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" y="3794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full pipeline → step summary written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960120"/>
            <a:ext cx="402336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2926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2344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0332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pit-html-report-{run_number}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 artifact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148840"/>
            <a:ext cx="402336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2926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30368" y="22219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mutant-classifier-report-{run_number}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 artifact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402336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3337560"/>
            <a:ext cx="2926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6118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30368" y="34107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classifier outputs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3794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 · adjusted score · equiv count · total mutants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contents: read  ·  pull-requests: write (needed for PR inline annotations)  ·  Self-test pattern: uses: ./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Goal: Kill the 5 surviving mutants  →  Push score from 86% to 97%+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1024128"/>
          </a:xfrm>
          <a:prstGeom prst="rect">
            <a:avLst/>
          </a:prstGeom>
          <a:solidFill>
            <a:srgbClr val="1A2E42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1380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  ln 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636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assertEquals(3, calc.max(3, 4));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1901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&lt; b strictly; kills ConditionalsBoundary on &gt;=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96312"/>
            <a:ext cx="4023360" cy="1024128"/>
          </a:xfrm>
          <a:prstGeom prst="rect">
            <a:avLst/>
          </a:prstGeom>
          <a:solidFill>
            <a:srgbClr val="1A2E42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2551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abs()  ln 39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807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assertEquals(1, calc.abs(-1));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072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boundary at n = -1; kills ConditionalsBoundary on &lt;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666744"/>
            <a:ext cx="4023360" cy="1024128"/>
          </a:xfrm>
          <a:prstGeom prst="rect">
            <a:avLst/>
          </a:prstGeom>
          <a:solidFill>
            <a:srgbClr val="1A2E42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3721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min  ln 33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3977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assertEquals(1, calc.clamp(1, 1, 10));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" y="4242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== min boundary; kills ConditionalsBoundary on &lt;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4023360" cy="1024128"/>
          </a:xfrm>
          <a:prstGeom prst="rect">
            <a:avLst/>
          </a:prstGeom>
          <a:solidFill>
            <a:srgbClr val="1A2E42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6048" y="1380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max  ln 34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1636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assertEquals(10, calc.clamp(10, 1, 10));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6048" y="1901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== max boundary; kills ConditionalsBoundary on 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496312"/>
            <a:ext cx="4023360" cy="1024128"/>
          </a:xfrm>
          <a:prstGeom prst="rect">
            <a:avLst/>
          </a:prstGeom>
          <a:solidFill>
            <a:srgbClr val="1A2E42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2551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factorial()  ln 44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807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assertEquals(1, calc.factorial(0));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3072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n==0 base-case test; kills RemoveConditional_EQUAL_ELSE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Preview — ML Classifier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Pugh et al. (2025) — "Enhancing Mutation Testing Efficiency: A Comparative Study of Machine Learning Models for Equivalent Mutant Identification" — Towson University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731520"/>
          </a:xfrm>
          <a:prstGeom prst="rect">
            <a:avLst/>
          </a:prstGeom>
          <a:solidFill>
            <a:srgbClr val="1A2E4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5120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280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AST Extraction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600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javalang → ordered token sequence (operators, literals, method calls, types)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7315200" cy="731520"/>
          </a:xfrm>
          <a:prstGeom prst="rect">
            <a:avLst/>
          </a:prstGeom>
          <a:solidFill>
            <a:srgbClr val="1A2E42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512064" cy="73152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130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Embedding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4505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Java corpus · each token → dense 128-dim vector · variable-length sequence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35224"/>
            <a:ext cx="7315200" cy="731520"/>
          </a:xfrm>
          <a:prstGeom prst="rect">
            <a:avLst/>
          </a:prstGeom>
          <a:solidFill>
            <a:srgbClr val="1A2E42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935224"/>
            <a:ext cx="512064" cy="7315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11810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29809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 Inference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33009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Bi-GRU (expected best)  ·  LSTM  ·  Vanilla RNN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EQUIVALENT / NON_EQUIVALENT + softmax confidence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785616"/>
            <a:ext cx="7315200" cy="731520"/>
          </a:xfrm>
          <a:prstGeom prst="rect">
            <a:avLst/>
          </a:prstGeom>
          <a:solidFill>
            <a:srgbClr val="1A2E42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785616"/>
            <a:ext cx="512064" cy="7315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96849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3831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Filter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15137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0.90 AND EQUIVALENT → exclude from denominator → adjusted score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663440"/>
            <a:ext cx="731520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7000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~94% F1-score on equivalent mutant detection (per Pugh et al.)  ·  Adjusted score reflects true test suite quality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1271</Words>
  <Application>Microsoft Office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Equivalent Mutant Classifier — COSC 495</dc:title>
  <dc:subject>PptxGenJS Presentation</dc:subject>
  <dc:creator>PptxGenJS</dc:creator>
  <cp:lastModifiedBy>Salisu, Oluwaseyi</cp:lastModifiedBy>
  <cp:revision>1</cp:revision>
  <dcterms:created xsi:type="dcterms:W3CDTF">2026-05-01T07:29:36Z</dcterms:created>
  <dcterms:modified xsi:type="dcterms:W3CDTF">2026-05-01T07:43:41Z</dcterms:modified>
</cp:coreProperties>
</file>